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</p:sldIdLst>
  <p:sldSz cx="9144000" cy="5143500" type="screen16x9"/>
  <p:notesSz cx="6858000" cy="9144000"/>
  <p:embeddedFontLst>
    <p:embeddedFont>
      <p:font typeface="Poor Richard" panose="02080502050505020702" pitchFamily="18" charset="0"/>
      <p:regular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CD187-E83A-4264-BBFC-90AE7E66FC1C}" v="8" dt="2026-05-24T08:07:28.873"/>
  </p1510:revLst>
</p1510:revInfo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0" d="100"/>
          <a:sy n="80" d="100"/>
        </p:scale>
        <p:origin x="63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Lalasa" userId="e96f53674c8856a6" providerId="LiveId" clId="{2F978E68-5436-43A4-A1C2-1B49D9812D45}"/>
    <pc:docChg chg="custSel addSld modSld">
      <pc:chgData name="S Lalasa" userId="e96f53674c8856a6" providerId="LiveId" clId="{2F978E68-5436-43A4-A1C2-1B49D9812D45}" dt="2026-05-24T08:13:59.270" v="470" actId="20577"/>
      <pc:docMkLst>
        <pc:docMk/>
      </pc:docMkLst>
      <pc:sldChg chg="modSp mod">
        <pc:chgData name="S Lalasa" userId="e96f53674c8856a6" providerId="LiveId" clId="{2F978E68-5436-43A4-A1C2-1B49D9812D45}" dt="2026-05-24T07:57:29.214" v="93" actId="27636"/>
        <pc:sldMkLst>
          <pc:docMk/>
          <pc:sldMk cId="0" sldId="256"/>
        </pc:sldMkLst>
        <pc:spChg chg="mod">
          <ac:chgData name="S Lalasa" userId="e96f53674c8856a6" providerId="LiveId" clId="{2F978E68-5436-43A4-A1C2-1B49D9812D45}" dt="2026-05-24T07:57:29.214" v="93" actId="27636"/>
          <ac:spMkLst>
            <pc:docMk/>
            <pc:sldMk cId="0" sldId="256"/>
            <ac:spMk id="64" creationId="{00000000-0000-0000-0000-000000000000}"/>
          </ac:spMkLst>
        </pc:spChg>
      </pc:sldChg>
      <pc:sldChg chg="modSp mod modNotesTx">
        <pc:chgData name="S Lalasa" userId="e96f53674c8856a6" providerId="LiveId" clId="{2F978E68-5436-43A4-A1C2-1B49D9812D45}" dt="2026-05-24T08:13:05.399" v="465" actId="20577"/>
        <pc:sldMkLst>
          <pc:docMk/>
          <pc:sldMk cId="0" sldId="257"/>
        </pc:sldMkLst>
        <pc:spChg chg="mod">
          <ac:chgData name="S Lalasa" userId="e96f53674c8856a6" providerId="LiveId" clId="{2F978E68-5436-43A4-A1C2-1B49D9812D45}" dt="2026-05-24T08:00:51.495" v="383" actId="255"/>
          <ac:spMkLst>
            <pc:docMk/>
            <pc:sldMk cId="0" sldId="257"/>
            <ac:spMk id="70" creationId="{00000000-0000-0000-0000-000000000000}"/>
          </ac:spMkLst>
        </pc:spChg>
      </pc:sldChg>
      <pc:sldChg chg="addSp modSp mod modNotesTx">
        <pc:chgData name="S Lalasa" userId="e96f53674c8856a6" providerId="LiveId" clId="{2F978E68-5436-43A4-A1C2-1B49D9812D45}" dt="2026-05-24T08:12:57.358" v="464" actId="20577"/>
        <pc:sldMkLst>
          <pc:docMk/>
          <pc:sldMk cId="0" sldId="259"/>
        </pc:sldMkLst>
        <pc:spChg chg="mod">
          <ac:chgData name="S Lalasa" userId="e96f53674c8856a6" providerId="LiveId" clId="{2F978E68-5436-43A4-A1C2-1B49D9812D45}" dt="2026-05-24T08:03:39.139" v="398" actId="20577"/>
          <ac:spMkLst>
            <pc:docMk/>
            <pc:sldMk cId="0" sldId="259"/>
            <ac:spMk id="82" creationId="{00000000-0000-0000-0000-000000000000}"/>
          </ac:spMkLst>
        </pc:spChg>
        <pc:graphicFrameChg chg="add mod">
          <ac:chgData name="S Lalasa" userId="e96f53674c8856a6" providerId="LiveId" clId="{2F978E68-5436-43A4-A1C2-1B49D9812D45}" dt="2026-05-24T08:01:38.043" v="386"/>
          <ac:graphicFrameMkLst>
            <pc:docMk/>
            <pc:sldMk cId="0" sldId="259"/>
            <ac:graphicFrameMk id="2" creationId="{B0BD134B-4CAA-509E-352F-54E09FFDA66E}"/>
          </ac:graphicFrameMkLst>
        </pc:graphicFrameChg>
      </pc:sldChg>
      <pc:sldChg chg="modSp mod modNotesTx">
        <pc:chgData name="S Lalasa" userId="e96f53674c8856a6" providerId="LiveId" clId="{2F978E68-5436-43A4-A1C2-1B49D9812D45}" dt="2026-05-24T08:12:49.631" v="463" actId="20577"/>
        <pc:sldMkLst>
          <pc:docMk/>
          <pc:sldMk cId="0" sldId="260"/>
        </pc:sldMkLst>
        <pc:spChg chg="mod">
          <ac:chgData name="S Lalasa" userId="e96f53674c8856a6" providerId="LiveId" clId="{2F978E68-5436-43A4-A1C2-1B49D9812D45}" dt="2026-05-24T08:05:09.644" v="400"/>
          <ac:spMkLst>
            <pc:docMk/>
            <pc:sldMk cId="0" sldId="260"/>
            <ac:spMk id="89" creationId="{00000000-0000-0000-0000-000000000000}"/>
          </ac:spMkLst>
        </pc:spChg>
      </pc:sldChg>
      <pc:sldChg chg="modSp mod modNotesTx">
        <pc:chgData name="S Lalasa" userId="e96f53674c8856a6" providerId="LiveId" clId="{2F978E68-5436-43A4-A1C2-1B49D9812D45}" dt="2026-05-24T08:13:18.166" v="467" actId="20577"/>
        <pc:sldMkLst>
          <pc:docMk/>
          <pc:sldMk cId="0" sldId="261"/>
        </pc:sldMkLst>
        <pc:spChg chg="mod">
          <ac:chgData name="S Lalasa" userId="e96f53674c8856a6" providerId="LiveId" clId="{2F978E68-5436-43A4-A1C2-1B49D9812D45}" dt="2026-05-24T08:06:55.360" v="402"/>
          <ac:spMkLst>
            <pc:docMk/>
            <pc:sldMk cId="0" sldId="261"/>
            <ac:spMk id="95" creationId="{00000000-0000-0000-0000-000000000000}"/>
          </ac:spMkLst>
        </pc:spChg>
      </pc:sldChg>
      <pc:sldChg chg="delSp modSp mod modNotesTx">
        <pc:chgData name="S Lalasa" userId="e96f53674c8856a6" providerId="LiveId" clId="{2F978E68-5436-43A4-A1C2-1B49D9812D45}" dt="2026-05-24T08:13:49.503" v="468" actId="5793"/>
        <pc:sldMkLst>
          <pc:docMk/>
          <pc:sldMk cId="890219242" sldId="262"/>
        </pc:sldMkLst>
        <pc:spChg chg="del mod">
          <ac:chgData name="S Lalasa" userId="e96f53674c8856a6" providerId="LiveId" clId="{2F978E68-5436-43A4-A1C2-1B49D9812D45}" dt="2026-05-24T08:11:05.838" v="462" actId="21"/>
          <ac:spMkLst>
            <pc:docMk/>
            <pc:sldMk cId="890219242" sldId="262"/>
            <ac:spMk id="2" creationId="{E46C1373-ECCB-8893-C88B-952E49559659}"/>
          </ac:spMkLst>
        </pc:spChg>
        <pc:spChg chg="mod">
          <ac:chgData name="S Lalasa" userId="e96f53674c8856a6" providerId="LiveId" clId="{2F978E68-5436-43A4-A1C2-1B49D9812D45}" dt="2026-05-24T08:10:17.597" v="420" actId="255"/>
          <ac:spMkLst>
            <pc:docMk/>
            <pc:sldMk cId="890219242" sldId="262"/>
            <ac:spMk id="3" creationId="{C6259607-54F3-CE30-20BB-21D4536BE7C6}"/>
          </ac:spMkLst>
        </pc:spChg>
      </pc:sldChg>
      <pc:sldChg chg="add modNotesTx">
        <pc:chgData name="S Lalasa" userId="e96f53674c8856a6" providerId="LiveId" clId="{2F978E68-5436-43A4-A1C2-1B49D9812D45}" dt="2026-05-24T08:13:59.270" v="470" actId="20577"/>
        <pc:sldMkLst>
          <pc:docMk/>
          <pc:sldMk cId="4226690716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51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353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Aggregate real-time data including demographics, account tenure, credit utilization, and behavioral payment signals (Months 1–6).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</a:t>
            </a:r>
            <a:r>
              <a:rPr lang="en-US" sz="1600" dirty="0"/>
              <a:t>An Logistic regression model calculates a "Segment of One" risk probability score, identifying delinquency triggers before they escalate.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  <a:r>
              <a:rPr lang="en-US" sz="1600" dirty="0"/>
              <a:t>The system triggers automated, personalized interventions—ranging from digital "nudge" reminders to pre-approved, flexible repayment plan offers.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</a:t>
            </a:r>
            <a:r>
              <a:rPr lang="en-US" sz="1600" dirty="0"/>
              <a:t>System outcomes (e.g., successful payments, ignored notifications) are fed back into the model to continuously optimize targeting accuracy.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Key Features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BD134B-4CAA-509E-352F-54E09FFDA66E}"/>
              </a:ext>
            </a:extLst>
          </p:cNvPr>
          <p:cNvGraphicFramePr>
            <a:graphicFrameLocks noGrp="1"/>
          </p:cNvGraphicFramePr>
          <p:nvPr/>
        </p:nvGraphicFramePr>
        <p:xfrm>
          <a:off x="387350" y="2023110"/>
          <a:ext cx="8369301" cy="2011680"/>
        </p:xfrm>
        <a:graphic>
          <a:graphicData uri="http://schemas.openxmlformats.org/drawingml/2006/table">
            <a:tbl>
              <a:tblPr/>
              <a:tblGrid>
                <a:gridCol w="2789767">
                  <a:extLst>
                    <a:ext uri="{9D8B030D-6E8A-4147-A177-3AD203B41FA5}">
                      <a16:colId xmlns:a16="http://schemas.microsoft.com/office/drawing/2014/main" val="807725120"/>
                    </a:ext>
                  </a:extLst>
                </a:gridCol>
                <a:gridCol w="2789767">
                  <a:extLst>
                    <a:ext uri="{9D8B030D-6E8A-4147-A177-3AD203B41FA5}">
                      <a16:colId xmlns:a16="http://schemas.microsoft.com/office/drawing/2014/main" val="3724777747"/>
                    </a:ext>
                  </a:extLst>
                </a:gridCol>
                <a:gridCol w="2789767">
                  <a:extLst>
                    <a:ext uri="{9D8B030D-6E8A-4147-A177-3AD203B41FA5}">
                      <a16:colId xmlns:a16="http://schemas.microsoft.com/office/drawing/2014/main" val="130676443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Autonomous (Agentic)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Human Oversight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76081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Outreach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Sending SMS, email reminders, and voice bot initial contacts.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Handling complex cases requiring deep financial empathy.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295925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Negotiation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Proposing standardized repayment/hardship installment plans.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Final approval for unique, high-value debt restructuring.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7303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Governance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monitoring for adherence to defined policies.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Quarterly ethical audits and fairness bias reviews.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5767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Key Safeguards:</a:t>
            </a:r>
          </a:p>
          <a:p>
            <a:pPr lvl="1"/>
            <a:r>
              <a:rPr lang="en-US" dirty="0"/>
              <a:t>Fairness Testing: Continuous "Disparate Impact Analysis" to ensure the model does not disproportionately target specific age groups, locations, or employment types.</a:t>
            </a:r>
          </a:p>
          <a:p>
            <a:pPr lvl="1"/>
            <a:r>
              <a:rPr lang="en-US" dirty="0"/>
              <a:t>Explainable AI (XAI): Utilizing "Reason Codes" (e.g., Credit Utilization) for every adverse action, ensuring customers and auditors understand the why behind every decision.</a:t>
            </a:r>
          </a:p>
          <a:p>
            <a:pPr lvl="1"/>
            <a:r>
              <a:rPr lang="en-US" dirty="0"/>
              <a:t>Regulatory Compliance: Embedding hard-coded "Policy-Locked" boundaries to ensure AI actions strictly follow the Equal Credit Opportunity Act (ECOA) and local regulations.</a:t>
            </a:r>
          </a:p>
          <a:p>
            <a:pPr lvl="1"/>
            <a:r>
              <a:rPr lang="en-US" dirty="0"/>
              <a:t>Human-in-the-Loop: Critical intervention thresholds where the AI hands off a case to a human agent to avoid "black-box" mistakes.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Quantitative Business KPIs:</a:t>
            </a:r>
          </a:p>
          <a:p>
            <a:pPr lvl="1"/>
            <a:r>
              <a:rPr lang="en-US" dirty="0"/>
              <a:t>15% reduction in 60-day delinquency rates through early, proactive intervention.</a:t>
            </a:r>
          </a:p>
          <a:p>
            <a:pPr lvl="1"/>
            <a:r>
              <a:rPr lang="en-US" dirty="0"/>
              <a:t>40% reduction in operational costs by automating routine outreach and routine negotiations.</a:t>
            </a:r>
          </a:p>
          <a:p>
            <a:pPr lvl="1"/>
            <a:r>
              <a:rPr lang="en-US" dirty="0"/>
              <a:t>Higher total recovery of Non-Performing Loans (NPLs) due to improved customer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Qualitative </a:t>
            </a:r>
            <a:r>
              <a:rPr lang="en-US" dirty="0"/>
              <a:t>Customer Outcomes:</a:t>
            </a:r>
          </a:p>
          <a:p>
            <a:pPr lvl="1"/>
            <a:r>
              <a:rPr lang="en-US" dirty="0"/>
              <a:t>Improved Trust: Moving from aggressive collection calls to supportive, personalized financial assistance.</a:t>
            </a:r>
          </a:p>
          <a:p>
            <a:pPr lvl="1"/>
            <a:r>
              <a:rPr lang="en-US" dirty="0"/>
              <a:t>Enhanced Fairness: A transparent, bias-minimized process that treats every customer objectively.</a:t>
            </a:r>
          </a:p>
          <a:p>
            <a:pPr lvl="1"/>
            <a:r>
              <a:rPr lang="en-US"/>
              <a:t>Scalability: The ability to manage 10x the customer volume without needing a linear increase in collections headcount.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2669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5400" dirty="0">
                <a:latin typeface="Poor Richard" panose="02080502050505020702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412</Words>
  <Application>Microsoft Office PowerPoint</Application>
  <PresentationFormat>On-screen Show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Roboto Slab</vt:lpstr>
      <vt:lpstr>Roboto</vt:lpstr>
      <vt:lpstr>Poor Richard</vt:lpstr>
      <vt:lpstr>Google Sans Text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 Lalasa</cp:lastModifiedBy>
  <cp:revision>2</cp:revision>
  <dcterms:modified xsi:type="dcterms:W3CDTF">2026-05-24T08:14:07Z</dcterms:modified>
</cp:coreProperties>
</file>